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6bbf60a-74fa-40a5-7f33-ed059397a8d1}">
          <p14:sldIdLst>
            <p14:sldId id="256"/>
            <p14:sldId id="257"/>
          </p14:sldIdLst>
        </p14:section>
        <p14:section name="Product" id="{8a80a107-a7fc-110d-546f-58b9a9949e88}">
          <p14:sldIdLst>
            <p14:sldId id="258"/>
            <p14:sldId id="259"/>
            <p14:sldId id="260"/>
            <p14:sldId id="261"/>
          </p14:sldIdLst>
        </p14:section>
        <p14:section name="Travel" id="{f666a67e-01a3-d47f-42cb-17ee93018368}">
          <p14:sldIdLst>
            <p14:sldId id="262"/>
            <p14:sldId id="263"/>
          </p14:sldIdLst>
        </p14:section>
        <p14:section name="Platform" id="{c3036d2f-b265-de78-34a1-f0f3af660f69}">
          <p14:sldIdLst>
            <p14:sldId id="264"/>
            <p14:sldId id="265"/>
          </p14:sldIdLst>
        </p14:section>
        <p14:section name="Business" id="{4571d621-c61e-b886-1eba-c9bd0b48f83a}">
          <p14:sldIdLst>
            <p14:sldId id="266"/>
            <p14:sldId id="267"/>
            <p14:sldId id="268"/>
          </p14:sldIdLst>
        </p14:section>
        <p14:section name="Close" id="{81488b7a-549d-1652-6588-1356d3a6f8fa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Virasat is a heritage companion: it lets anyone learn about an Indian monument in 3D and AR and then plan a real visit to it. Today it covers six monuments and is live on Netlify.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problems: heritage education is two-dimensional, trip planning is fragmented across many apps, and most students can't visit the monuments they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pillars of the product. The first two are about learning; the second two turn learning into a visit and into revenue.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Models were repaired, textured, decimated and compressed in a scripted Blender pipeline. The Red Fort model shipped without textures; we added red sandstone, marble, paving, lawn and the national flag.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Tours run hands-free with autoplay, or one landmark at a time. A mute button turns narration off. Audio guides are also available in Hindi, Telugu, Tamil and Malayalam.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heritage page reads like an article with a sticky section bar: overview, history, architecture, gallery, 3D model, plan your visit, timeline and 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map shows the monument and nearby places, numbered by distance. The Stays tab takes dates and opens Booking.com. We never show prices ourselves because they change daily.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Readers can also buy online through Amazon.in. Every book links back to its monument, and every monument lists its 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separate server to run: Netlify hosts the app and its storage. Moving to Postgres later uses the existing Prisma schema.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emails in ADMIN_EMAILS, or users an admin promotes, can open it. Every admin action re-checks the role on the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two streams are built and only need affiliate ids. The school plan is the main next revenue line; content stays free for individual learners.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plan is in docs/ROADMAP.md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on the earlier slides is live on virasatdesh.netlify.app.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Open the live site to try the 3D tours and the visit planner.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title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pic>
        <p:nvPicPr>
          <p:cNvPr id="3" name="Image 0" descr="C:\Users\akshansh sharma\AppData\Local\Temp\claude\C--Users-akshansh-sharma-Desktop-code-file-virasat\d10330bc-ebe7-49cf-9820-f3f096e3ca56\scratchpad\deck\img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54880"/>
            <a:ext cx="201168" cy="2011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13232" y="4727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Virasat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j Mahal photo" descr="The Taj Mahal from the Charbagh garde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0"/>
            <a:ext cx="4389120" cy="5143500"/>
          </a:xfrm>
          <a:prstGeom prst="rect">
            <a:avLst/>
          </a:prstGeom>
        </p:spPr>
      </p:pic>
      <p:pic>
        <p:nvPicPr>
          <p:cNvPr id="3" name="Virasat logo" descr="C:\Users\akshansh sharma\AppData\Local\Temp\claude\C--Users-akshansh-sharma-Desktop-code-file-virasat\d10330bc-ebe7-49cf-9820-f3f096e3ca56\scratchpad\deck\img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"/>
            <a:ext cx="640080" cy="6400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325880" y="7132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VIRASAT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173736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heritage in 3D, AR and travel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2004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 monument, walk around it in 3D, then plan the trip — in one free app for students, teachers and travellers.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A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virasatdesh.netlify.app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89204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Photo: Yann (edited by King of Hearts), Wikimedia Commons, CC BY-SA 4.0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Heritage is hard to learn and hard to plan</a:t>
            </a:r>
            <a:endParaRPr lang="en-US" sz="2800" dirty="0"/>
          </a:p>
        </p:txBody>
      </p:sp>
      <p:sp>
        <p:nvSpPr>
          <p:cNvPr id="3" name="Problem 1"/>
          <p:cNvSpPr/>
          <p:nvPr/>
        </p:nvSpPr>
        <p:spPr>
          <a:xfrm>
            <a:off x="457200" y="114300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E6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7">
                <a:alpha val="12000"/>
              </a:srgbClr>
            </a:outerShdw>
          </a:effectLst>
        </p:spPr>
      </p:sp>
      <p:sp>
        <p:nvSpPr>
          <p:cNvPr id="4" name="LuBookOpen disc"/>
          <p:cNvSpPr/>
          <p:nvPr/>
        </p:nvSpPr>
        <p:spPr>
          <a:xfrm>
            <a:off x="731520" y="1417320"/>
            <a:ext cx="566928" cy="566928"/>
          </a:xfrm>
          <a:prstGeom prst="ellipse">
            <a:avLst/>
          </a:prstGeom>
          <a:solidFill>
            <a:srgbClr val="EFE9DC"/>
          </a:solidFill>
          <a:ln/>
        </p:spPr>
      </p:sp>
      <p:pic>
        <p:nvPicPr>
          <p:cNvPr id="5" name="LuBookOpe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583" y="1553383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103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is flat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6060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Textbooks and photos can't show scale, structure or how a monument was built.</a:t>
            </a:r>
            <a:endParaRPr lang="en-US" sz="1400" dirty="0"/>
          </a:p>
        </p:txBody>
      </p:sp>
      <p:sp>
        <p:nvSpPr>
          <p:cNvPr id="8" name="Problem 2"/>
          <p:cNvSpPr/>
          <p:nvPr/>
        </p:nvSpPr>
        <p:spPr>
          <a:xfrm>
            <a:off x="3246120" y="114300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E6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7">
                <a:alpha val="12000"/>
              </a:srgbClr>
            </a:outerShdw>
          </a:effectLst>
        </p:spPr>
      </p:sp>
      <p:sp>
        <p:nvSpPr>
          <p:cNvPr id="9" name="LuRoute disc"/>
          <p:cNvSpPr/>
          <p:nvPr/>
        </p:nvSpPr>
        <p:spPr>
          <a:xfrm>
            <a:off x="3520440" y="1417320"/>
            <a:ext cx="566928" cy="566928"/>
          </a:xfrm>
          <a:prstGeom prst="ellipse">
            <a:avLst/>
          </a:prstGeom>
          <a:solidFill>
            <a:srgbClr val="EFE9DC"/>
          </a:solidFill>
          <a:ln/>
        </p:spPr>
      </p:sp>
      <p:pic>
        <p:nvPicPr>
          <p:cNvPr id="10" name="LuRout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503" y="1553383"/>
            <a:ext cx="294803" cy="29480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103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is messy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6060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Travellers juggle maps, hotel sites, guides and bookshops to plan one visit.</a:t>
            </a:r>
            <a:endParaRPr lang="en-US" sz="1400" dirty="0"/>
          </a:p>
        </p:txBody>
      </p:sp>
      <p:sp>
        <p:nvSpPr>
          <p:cNvPr id="13" name="Problem 3"/>
          <p:cNvSpPr/>
          <p:nvPr/>
        </p:nvSpPr>
        <p:spPr>
          <a:xfrm>
            <a:off x="6035040" y="114300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E6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7">
                <a:alpha val="12000"/>
              </a:srgbClr>
            </a:outerShdw>
          </a:effectLst>
        </p:spPr>
      </p:sp>
      <p:sp>
        <p:nvSpPr>
          <p:cNvPr id="14" name="LuGlobe disc"/>
          <p:cNvSpPr/>
          <p:nvPr/>
        </p:nvSpPr>
        <p:spPr>
          <a:xfrm>
            <a:off x="6309360" y="1417320"/>
            <a:ext cx="566928" cy="566928"/>
          </a:xfrm>
          <a:prstGeom prst="ellipse">
            <a:avLst/>
          </a:prstGeom>
          <a:solidFill>
            <a:srgbClr val="EFE9DC"/>
          </a:solidFill>
          <a:ln/>
        </p:spPr>
      </p:sp>
      <p:pic>
        <p:nvPicPr>
          <p:cNvPr id="15" name="LuGlob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423" y="1553383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103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is unequal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26060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students never visit these sites; schools need a way to bring them into class.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Virasat answers all three: </a:t>
            </a:r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monument you can explore, and a travel guide built around 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app to learn, explore and plan</a:t>
            </a:r>
            <a:endParaRPr lang="en-US" sz="2800" dirty="0"/>
          </a:p>
        </p:txBody>
      </p:sp>
      <p:sp>
        <p:nvSpPr>
          <p:cNvPr id="3" name="Pillar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6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7">
                <a:alpha val="12000"/>
              </a:srgbClr>
            </a:outerShdw>
          </a:effectLst>
        </p:spPr>
      </p:sp>
      <p:sp>
        <p:nvSpPr>
          <p:cNvPr id="4" name="LuBox disc"/>
          <p:cNvSpPr/>
          <p:nvPr/>
        </p:nvSpPr>
        <p:spPr>
          <a:xfrm>
            <a:off x="731520" y="1527048"/>
            <a:ext cx="731520" cy="731520"/>
          </a:xfrm>
          <a:prstGeom prst="ellipse">
            <a:avLst/>
          </a:prstGeom>
          <a:solidFill>
            <a:srgbClr val="4C697B"/>
          </a:solidFill>
          <a:ln/>
        </p:spPr>
      </p:sp>
      <p:pic>
        <p:nvPicPr>
          <p:cNvPr id="5" name="LuBox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1702613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4173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in 3D and AR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18288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zoom every monument; place it on your table with a phone.</a:t>
            </a:r>
            <a:endParaRPr lang="en-US" sz="1400" dirty="0"/>
          </a:p>
        </p:txBody>
      </p:sp>
      <p:sp>
        <p:nvSpPr>
          <p:cNvPr id="8" name="Pillar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6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7">
                <a:alpha val="12000"/>
              </a:srgbClr>
            </a:outerShdw>
          </a:effectLst>
        </p:spPr>
      </p:sp>
      <p:sp>
        <p:nvSpPr>
          <p:cNvPr id="9" name="LuHeadphones disc"/>
          <p:cNvSpPr/>
          <p:nvPr/>
        </p:nvSpPr>
        <p:spPr>
          <a:xfrm>
            <a:off x="4937760" y="1527048"/>
            <a:ext cx="731520" cy="731520"/>
          </a:xfrm>
          <a:prstGeom prst="ellipse">
            <a:avLst/>
          </a:prstGeom>
          <a:solidFill>
            <a:srgbClr val="C5A059"/>
          </a:solidFill>
          <a:ln/>
        </p:spPr>
      </p:sp>
      <p:pic>
        <p:nvPicPr>
          <p:cNvPr id="10" name="LuHeadphone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325" y="1702613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897880" y="14173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tours that talk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897880" y="18288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 landmark: the camera flies in and narrates its story.</a:t>
            </a:r>
            <a:endParaRPr lang="en-US" sz="1400" dirty="0"/>
          </a:p>
        </p:txBody>
      </p:sp>
      <p:sp>
        <p:nvSpPr>
          <p:cNvPr id="13" name="Pillar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6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7">
                <a:alpha val="12000"/>
              </a:srgbClr>
            </a:outerShdw>
          </a:effectLst>
        </p:spPr>
      </p:sp>
      <p:sp>
        <p:nvSpPr>
          <p:cNvPr id="14" name="LuMap disc"/>
          <p:cNvSpPr/>
          <p:nvPr/>
        </p:nvSpPr>
        <p:spPr>
          <a:xfrm>
            <a:off x="731520" y="3218688"/>
            <a:ext cx="731520" cy="731520"/>
          </a:xfrm>
          <a:prstGeom prst="ellipse">
            <a:avLst/>
          </a:prstGeom>
          <a:solidFill>
            <a:srgbClr val="4C697B"/>
          </a:solidFill>
          <a:ln/>
        </p:spPr>
      </p:sp>
      <p:pic>
        <p:nvPicPr>
          <p:cNvPr id="15" name="LuMap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85" y="3394253"/>
            <a:ext cx="380390" cy="38039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91640" y="3108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your visit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691640" y="35204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sights, directions, best time, hours and stays to book.</a:t>
            </a:r>
            <a:endParaRPr lang="en-US" sz="1400" dirty="0"/>
          </a:p>
        </p:txBody>
      </p:sp>
      <p:sp>
        <p:nvSpPr>
          <p:cNvPr id="18" name="Pillar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6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7">
                <a:alpha val="12000"/>
              </a:srgbClr>
            </a:outerShdw>
          </a:effectLst>
        </p:spPr>
      </p:sp>
      <p:sp>
        <p:nvSpPr>
          <p:cNvPr id="19" name="LuBookOpen disc"/>
          <p:cNvSpPr/>
          <p:nvPr/>
        </p:nvSpPr>
        <p:spPr>
          <a:xfrm>
            <a:off x="4937760" y="3218688"/>
            <a:ext cx="731520" cy="731520"/>
          </a:xfrm>
          <a:prstGeom prst="ellipse">
            <a:avLst/>
          </a:prstGeom>
          <a:solidFill>
            <a:srgbClr val="C5A059"/>
          </a:solidFill>
          <a:ln/>
        </p:spPr>
      </p:sp>
      <p:pic>
        <p:nvPicPr>
          <p:cNvPr id="20" name="LuBookOpen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3325" y="3394253"/>
            <a:ext cx="380390" cy="38039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97880" y="3108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Heritage Library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5897880" y="35204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Hand-picked books per monument, delivered across India.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monuments, prepared in Blender for the web</a:t>
            </a:r>
            <a:endParaRPr lang="en-US" sz="2800" dirty="0"/>
          </a:p>
        </p:txBody>
      </p:sp>
      <p:sp>
        <p:nvSpPr>
          <p:cNvPr id="3" name="Taj Mahal render frame"/>
          <p:cNvSpPr/>
          <p:nvPr/>
        </p:nvSpPr>
        <p:spPr>
          <a:xfrm>
            <a:off x="457200" y="1051560"/>
            <a:ext cx="26517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6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7">
                <a:alpha val="12000"/>
              </a:srgbClr>
            </a:outerShdw>
          </a:effectLst>
        </p:spPr>
      </p:sp>
      <p:pic>
        <p:nvPicPr>
          <p:cNvPr id="4" name="Taj Mahal render" descr="Taj Mahal rend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097280"/>
            <a:ext cx="2560320" cy="14813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2606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 Mahal</a:t>
            </a:r>
            <a:endParaRPr lang="en-US" sz="1100" dirty="0"/>
          </a:p>
        </p:txBody>
      </p:sp>
      <p:sp>
        <p:nvSpPr>
          <p:cNvPr id="6" name="Red Fort render frame"/>
          <p:cNvSpPr/>
          <p:nvPr/>
        </p:nvSpPr>
        <p:spPr>
          <a:xfrm>
            <a:off x="3200400" y="1051560"/>
            <a:ext cx="26517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6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7">
                <a:alpha val="12000"/>
              </a:srgbClr>
            </a:outerShdw>
          </a:effectLst>
        </p:spPr>
      </p:sp>
      <p:pic>
        <p:nvPicPr>
          <p:cNvPr id="7" name="Red Fort render" descr="Red Fort rende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46120" y="1097280"/>
            <a:ext cx="2560320" cy="148132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246120" y="2606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Fort</a:t>
            </a:r>
            <a:endParaRPr lang="en-US" sz="1100" dirty="0"/>
          </a:p>
        </p:txBody>
      </p:sp>
      <p:sp>
        <p:nvSpPr>
          <p:cNvPr id="9" name="Hampi Stone Chariot render frame"/>
          <p:cNvSpPr/>
          <p:nvPr/>
        </p:nvSpPr>
        <p:spPr>
          <a:xfrm>
            <a:off x="457200" y="2834640"/>
            <a:ext cx="26517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6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7">
                <a:alpha val="12000"/>
              </a:srgbClr>
            </a:outerShdw>
          </a:effectLst>
        </p:spPr>
      </p:sp>
      <p:pic>
        <p:nvPicPr>
          <p:cNvPr id="10" name="Hampi Stone Chariot render" descr="Hampi Stone Chariot rende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2920" y="2880360"/>
            <a:ext cx="2560320" cy="148132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02920" y="4389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Hampi Stone Chariot</a:t>
            </a:r>
            <a:endParaRPr lang="en-US" sz="1100" dirty="0"/>
          </a:p>
        </p:txBody>
      </p:sp>
      <p:sp>
        <p:nvSpPr>
          <p:cNvPr id="12" name="Ellora site scan render frame"/>
          <p:cNvSpPr/>
          <p:nvPr/>
        </p:nvSpPr>
        <p:spPr>
          <a:xfrm>
            <a:off x="3200400" y="2834640"/>
            <a:ext cx="26517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6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7">
                <a:alpha val="12000"/>
              </a:srgbClr>
            </a:outerShdw>
          </a:effectLst>
        </p:spPr>
      </p:sp>
      <p:pic>
        <p:nvPicPr>
          <p:cNvPr id="13" name="Ellora site scan render" descr="Ellora site scan rende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246120" y="2880360"/>
            <a:ext cx="2560320" cy="148132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246120" y="4389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Ellora site scan</a:t>
            </a:r>
            <a:endParaRPr lang="en-US" sz="1100" dirty="0"/>
          </a:p>
        </p:txBody>
      </p:sp>
      <p:sp>
        <p:nvSpPr>
          <p:cNvPr id="15" name="Text 9"/>
          <p:cNvSpPr txBox="1"/>
          <p:nvPr/>
        </p:nvSpPr>
        <p:spPr>
          <a:xfrm>
            <a:off x="6172200" y="10972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600" dirty="0"/>
          </a:p>
        </p:txBody>
      </p:sp>
      <p:sp>
        <p:nvSpPr>
          <p:cNvPr id="16" name="Text 10"/>
          <p:cNvSpPr txBox="1"/>
          <p:nvPr/>
        </p:nvSpPr>
        <p:spPr>
          <a:xfrm>
            <a:off x="6172200" y="16459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monuments in 3D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6172200" y="22860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8" name="Text 12"/>
          <p:cNvSpPr txBox="1"/>
          <p:nvPr/>
        </p:nvSpPr>
        <p:spPr>
          <a:xfrm>
            <a:off x="6172200" y="28346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per site: Virasat model, detailed scan, Sketchfab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6172200" y="34747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</a:t>
            </a:r>
            <a:endParaRPr lang="en-US" sz="3600" dirty="0"/>
          </a:p>
        </p:txBody>
      </p:sp>
      <p:sp>
        <p:nvSpPr>
          <p:cNvPr id="20" name="Text 14"/>
          <p:cNvSpPr txBox="1"/>
          <p:nvPr/>
        </p:nvSpPr>
        <p:spPr>
          <a:xfrm>
            <a:off x="6172200" y="40233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Android and iPhone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tours that zoom in and talk</a:t>
            </a:r>
            <a:endParaRPr lang="en-US" sz="2800" dirty="0"/>
          </a:p>
        </p:txBody>
      </p:sp>
      <p:sp>
        <p:nvSpPr>
          <p:cNvPr id="3" name="Guided tour screenshot frame"/>
          <p:cNvSpPr/>
          <p:nvPr/>
        </p:nvSpPr>
        <p:spPr>
          <a:xfrm>
            <a:off x="457200" y="1051560"/>
            <a:ext cx="4023360" cy="3529584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9525">
            <a:solidFill>
              <a:srgbClr val="E6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7">
                <a:alpha val="12000"/>
              </a:srgbClr>
            </a:outerShdw>
          </a:effectLst>
        </p:spPr>
      </p:sp>
      <p:pic>
        <p:nvPicPr>
          <p:cNvPr id="4" name="Guided tour screenshot" descr="Guided tour screensho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097280"/>
            <a:ext cx="3931920" cy="3438144"/>
          </a:xfrm>
          <a:prstGeom prst="rect">
            <a:avLst/>
          </a:prstGeom>
        </p:spPr>
      </p:pic>
      <p:sp>
        <p:nvSpPr>
          <p:cNvPr id="5" name="Step 1 disc"/>
          <p:cNvSpPr/>
          <p:nvPr/>
        </p:nvSpPr>
        <p:spPr>
          <a:xfrm>
            <a:off x="4892040" y="1143000"/>
            <a:ext cx="457200" cy="457200"/>
          </a:xfrm>
          <a:prstGeom prst="ellipse">
            <a:avLst/>
          </a:prstGeom>
          <a:solidFill>
            <a:srgbClr val="C5A05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89204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532120" y="112471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Tap a numbered landmark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532120" y="149047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sit on the dome, minarets, inlay and gateway.</a:t>
            </a:r>
            <a:endParaRPr lang="en-US" sz="1400" dirty="0"/>
          </a:p>
        </p:txBody>
      </p:sp>
      <p:sp>
        <p:nvSpPr>
          <p:cNvPr id="9" name="Step 2 disc"/>
          <p:cNvSpPr/>
          <p:nvPr/>
        </p:nvSpPr>
        <p:spPr>
          <a:xfrm>
            <a:off x="4892040" y="2286000"/>
            <a:ext cx="457200" cy="457200"/>
          </a:xfrm>
          <a:prstGeom prst="ellipse">
            <a:avLst/>
          </a:prstGeom>
          <a:solidFill>
            <a:srgbClr val="C5A05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8920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532120" y="226771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camera flies in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532120" y="263347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viewer orbits to the best angle for that feature.</a:t>
            </a:r>
            <a:endParaRPr lang="en-US" sz="1400" dirty="0"/>
          </a:p>
        </p:txBody>
      </p:sp>
      <p:sp>
        <p:nvSpPr>
          <p:cNvPr id="13" name="Step 3 disc"/>
          <p:cNvSpPr/>
          <p:nvPr/>
        </p:nvSpPr>
        <p:spPr>
          <a:xfrm>
            <a:off x="4892040" y="3429000"/>
            <a:ext cx="457200" cy="457200"/>
          </a:xfrm>
          <a:prstGeom prst="ellipse">
            <a:avLst/>
          </a:prstGeom>
          <a:solidFill>
            <a:srgbClr val="C5A05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920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532120" y="341071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 the story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5532120" y="377647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Narration reads the history; the card adds a 'Did you know?'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monument tells its full story</a:t>
            </a:r>
            <a:endParaRPr lang="en-US" sz="2800" dirty="0"/>
          </a:p>
        </p:txBody>
      </p:sp>
      <p:sp>
        <p:nvSpPr>
          <p:cNvPr id="3" name="Konark gallery screenshot frame"/>
          <p:cNvSpPr/>
          <p:nvPr/>
        </p:nvSpPr>
        <p:spPr>
          <a:xfrm>
            <a:off x="457200" y="1051560"/>
            <a:ext cx="521208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6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7">
                <a:alpha val="12000"/>
              </a:srgbClr>
            </a:outerShdw>
          </a:effectLst>
        </p:spPr>
      </p:sp>
      <p:pic>
        <p:nvPicPr>
          <p:cNvPr id="4" name="Konark gallery screenshot" descr="Konark gallery screensho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097280"/>
            <a:ext cx="5120640" cy="2331720"/>
          </a:xfrm>
          <a:prstGeom prst="rect">
            <a:avLst/>
          </a:prstGeom>
        </p:spPr>
      </p:pic>
      <p:sp>
        <p:nvSpPr>
          <p:cNvPr id="5" name="LuLandmark disc"/>
          <p:cNvSpPr/>
          <p:nvPr/>
        </p:nvSpPr>
        <p:spPr>
          <a:xfrm>
            <a:off x="6035040" y="1143000"/>
            <a:ext cx="457200" cy="457200"/>
          </a:xfrm>
          <a:prstGeom prst="ellipse">
            <a:avLst/>
          </a:prstGeom>
          <a:solidFill>
            <a:srgbClr val="4C697B"/>
          </a:solidFill>
          <a:ln/>
        </p:spPr>
      </p:sp>
      <p:pic>
        <p:nvPicPr>
          <p:cNvPr id="6" name="LuLandmark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252728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629400" y="1143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History, architecture and significance</a:t>
            </a:r>
            <a:endParaRPr lang="en-US" sz="1400" dirty="0"/>
          </a:p>
        </p:txBody>
      </p:sp>
      <p:sp>
        <p:nvSpPr>
          <p:cNvPr id="8" name="LuCamera disc"/>
          <p:cNvSpPr/>
          <p:nvPr/>
        </p:nvSpPr>
        <p:spPr>
          <a:xfrm>
            <a:off x="6035040" y="1920240"/>
            <a:ext cx="457200" cy="457200"/>
          </a:xfrm>
          <a:prstGeom prst="ellipse">
            <a:avLst/>
          </a:prstGeom>
          <a:solidFill>
            <a:srgbClr val="4C697B"/>
          </a:solidFill>
          <a:ln/>
        </p:spPr>
      </p:sp>
      <p:pic>
        <p:nvPicPr>
          <p:cNvPr id="9" name="LuCamera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2029968"/>
            <a:ext cx="237744" cy="2377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629400" y="1920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8-photo gallery per site, openly licensed</a:t>
            </a:r>
            <a:endParaRPr lang="en-US" sz="1400" dirty="0"/>
          </a:p>
        </p:txBody>
      </p:sp>
      <p:sp>
        <p:nvSpPr>
          <p:cNvPr id="11" name="LuCompass disc"/>
          <p:cNvSpPr/>
          <p:nvPr/>
        </p:nvSpPr>
        <p:spPr>
          <a:xfrm>
            <a:off x="6035040" y="2697480"/>
            <a:ext cx="457200" cy="457200"/>
          </a:xfrm>
          <a:prstGeom prst="ellipse">
            <a:avLst/>
          </a:prstGeom>
          <a:solidFill>
            <a:srgbClr val="4C697B"/>
          </a:solidFill>
          <a:ln/>
        </p:spPr>
      </p:sp>
      <p:pic>
        <p:nvPicPr>
          <p:cNvPr id="12" name="LuCompas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2807208"/>
            <a:ext cx="237744" cy="2377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629400" y="26974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from construction to UNESCO listing</a:t>
            </a:r>
            <a:endParaRPr lang="en-US" sz="1400" dirty="0"/>
          </a:p>
        </p:txBody>
      </p:sp>
      <p:sp>
        <p:nvSpPr>
          <p:cNvPr id="14" name="LuBookOpen disc"/>
          <p:cNvSpPr/>
          <p:nvPr/>
        </p:nvSpPr>
        <p:spPr>
          <a:xfrm>
            <a:off x="6035040" y="3474720"/>
            <a:ext cx="457200" cy="457200"/>
          </a:xfrm>
          <a:prstGeom prst="ellipse">
            <a:avLst/>
          </a:prstGeom>
          <a:solidFill>
            <a:srgbClr val="4C697B"/>
          </a:solidFill>
          <a:ln/>
        </p:spPr>
      </p:sp>
      <p:pic>
        <p:nvPicPr>
          <p:cNvPr id="15" name="LuBookOpen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3584448"/>
            <a:ext cx="237744" cy="23774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6629400" y="34747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books on every page</a:t>
            </a:r>
            <a:endParaRPr lang="en-US" sz="1400" dirty="0"/>
          </a:p>
        </p:txBody>
      </p:sp>
      <p:sp>
        <p:nvSpPr>
          <p:cNvPr id="17" name="Text 10"/>
          <p:cNvSpPr txBox="1"/>
          <p:nvPr/>
        </p:nvSpPr>
        <p:spPr>
          <a:xfrm>
            <a:off x="502920" y="3703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photographs across six monuments, credited on the site's Credits page.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the whole visit from the monument page</a:t>
            </a:r>
            <a:endParaRPr lang="en-US" sz="2800" dirty="0"/>
          </a:p>
        </p:txBody>
      </p:sp>
      <p:sp>
        <p:nvSpPr>
          <p:cNvPr id="3" name="Plan your visit screenshot frame"/>
          <p:cNvSpPr/>
          <p:nvPr/>
        </p:nvSpPr>
        <p:spPr>
          <a:xfrm>
            <a:off x="457200" y="1051560"/>
            <a:ext cx="55778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E6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7">
                <a:alpha val="12000"/>
              </a:srgbClr>
            </a:outerShdw>
          </a:effectLst>
        </p:spPr>
      </p:sp>
      <p:pic>
        <p:nvPicPr>
          <p:cNvPr id="4" name="Plan your visit screenshot" descr="Plan your visit screensho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097280"/>
            <a:ext cx="5486400" cy="2926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55080" y="1097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355080" y="1554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sights with distances and directions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355080" y="2560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from heritage hotels to budget guesthouses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355080" y="3108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tap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3566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check dates and prices on Booking.com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places and stays to My trip; everything is kept in the visitor's account.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heritage library you can order from</a:t>
            </a:r>
            <a:endParaRPr lang="en-US" sz="2800" dirty="0"/>
          </a:p>
        </p:txBody>
      </p:sp>
      <p:sp>
        <p:nvSpPr>
          <p:cNvPr id="3" name="Library screenshot frame"/>
          <p:cNvSpPr/>
          <p:nvPr/>
        </p:nvSpPr>
        <p:spPr>
          <a:xfrm>
            <a:off x="3749040" y="1051560"/>
            <a:ext cx="493776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E6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7">
                <a:alpha val="12000"/>
              </a:srgbClr>
            </a:outerShdw>
          </a:effectLst>
        </p:spPr>
      </p:sp>
      <p:pic>
        <p:nvPicPr>
          <p:cNvPr id="4" name="Library screenshot" descr="Library screensho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94760" y="1097280"/>
            <a:ext cx="4846320" cy="3154680"/>
          </a:xfrm>
          <a:prstGeom prst="rect">
            <a:avLst/>
          </a:prstGeom>
        </p:spPr>
      </p:pic>
      <p:sp>
        <p:nvSpPr>
          <p:cNvPr id="5" name="LuBookOpen disc"/>
          <p:cNvSpPr/>
          <p:nvPr/>
        </p:nvSpPr>
        <p:spPr>
          <a:xfrm>
            <a:off x="502920" y="1143000"/>
            <a:ext cx="548640" cy="548640"/>
          </a:xfrm>
          <a:prstGeom prst="ellipse">
            <a:avLst/>
          </a:prstGeom>
          <a:solidFill>
            <a:srgbClr val="4C697B"/>
          </a:solidFill>
          <a:ln/>
        </p:spPr>
      </p:sp>
      <p:pic>
        <p:nvPicPr>
          <p:cNvPr id="6" name="LuBookOpen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94" y="127467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11247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titles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234440" y="147218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books per monument, from surveys to histories</a:t>
            </a:r>
            <a:endParaRPr lang="en-US" sz="1300" dirty="0"/>
          </a:p>
        </p:txBody>
      </p:sp>
      <p:sp>
        <p:nvSpPr>
          <p:cNvPr id="9" name="LuShoppingBag disc"/>
          <p:cNvSpPr/>
          <p:nvPr/>
        </p:nvSpPr>
        <p:spPr>
          <a:xfrm>
            <a:off x="502920" y="2194560"/>
            <a:ext cx="548640" cy="548640"/>
          </a:xfrm>
          <a:prstGeom prst="ellipse">
            <a:avLst/>
          </a:prstGeom>
          <a:solidFill>
            <a:srgbClr val="C5A059"/>
          </a:solidFill>
          <a:ln/>
        </p:spPr>
      </p:sp>
      <p:pic>
        <p:nvPicPr>
          <p:cNvPr id="10" name="LuShoppingBag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4" y="2326234"/>
            <a:ext cx="285293" cy="28529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21762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through Virasat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1234440" y="252374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anywhere in India; pay after we confirm</a:t>
            </a:r>
            <a:endParaRPr lang="en-US" sz="1300" dirty="0"/>
          </a:p>
        </p:txBody>
      </p:sp>
      <p:sp>
        <p:nvSpPr>
          <p:cNvPr id="13" name="LuPackage disc"/>
          <p:cNvSpPr/>
          <p:nvPr/>
        </p:nvSpPr>
        <p:spPr>
          <a:xfrm>
            <a:off x="502920" y="3246120"/>
            <a:ext cx="548640" cy="548640"/>
          </a:xfrm>
          <a:prstGeom prst="ellipse">
            <a:avLst/>
          </a:prstGeom>
          <a:solidFill>
            <a:srgbClr val="4C697B"/>
          </a:solidFill>
          <a:ln/>
        </p:spPr>
      </p:sp>
      <p:pic>
        <p:nvPicPr>
          <p:cNvPr id="14" name="LuPackage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4" y="3377794"/>
            <a:ext cx="285293" cy="28529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34440" y="32278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Tracked in the account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1234440" y="357530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Requested, confirmed, shipped, delivered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Virasat is built</a:t>
            </a:r>
            <a:endParaRPr lang="en-US" sz="2800" dirty="0"/>
          </a:p>
        </p:txBody>
      </p:sp>
      <p:sp>
        <p:nvSpPr>
          <p:cNvPr id="3" name="Visitors"/>
          <p:cNvSpPr/>
          <p:nvPr/>
        </p:nvSpPr>
        <p:spPr>
          <a:xfrm>
            <a:off x="457200" y="2057400"/>
            <a:ext cx="1737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6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7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94360" y="21488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phone, AR</a:t>
            </a:r>
            <a:endParaRPr lang="en-US" sz="1400" dirty="0"/>
          </a:p>
        </p:txBody>
      </p:sp>
      <p:sp>
        <p:nvSpPr>
          <p:cNvPr id="5" name="Web app"/>
          <p:cNvSpPr/>
          <p:nvPr/>
        </p:nvSpPr>
        <p:spPr>
          <a:xfrm>
            <a:off x="2788920" y="1783080"/>
            <a:ext cx="2743200" cy="1508760"/>
          </a:xfrm>
          <a:prstGeom prst="roundRect">
            <a:avLst>
              <a:gd name="adj" fmla="val 6061"/>
            </a:avLst>
          </a:prstGeom>
          <a:solidFill>
            <a:srgbClr val="4C697B"/>
          </a:solidFill>
          <a:ln w="9525">
            <a:solidFill>
              <a:srgbClr val="4C697B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7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926080" y="187452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Virasat web app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on Netlify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Pages, 3D viewer, server actions</a:t>
            </a:r>
            <a:endParaRPr lang="en-US" sz="1400" dirty="0"/>
          </a:p>
        </p:txBody>
      </p:sp>
      <p:sp>
        <p:nvSpPr>
          <p:cNvPr id="7" name="Visitors to app"/>
          <p:cNvSpPr/>
          <p:nvPr/>
        </p:nvSpPr>
        <p:spPr>
          <a:xfrm>
            <a:off x="2194560" y="2542032"/>
            <a:ext cx="594360" cy="0"/>
          </a:xfrm>
          <a:prstGeom prst="line">
            <a:avLst/>
          </a:prstGeom>
          <a:noFill/>
          <a:ln w="15875">
            <a:solidFill>
              <a:srgbClr val="6B5E52"/>
            </a:solidFill>
            <a:prstDash val="solid"/>
            <a:tailEnd type="triangle"/>
          </a:ln>
        </p:spPr>
      </p:sp>
      <p:sp>
        <p:nvSpPr>
          <p:cNvPr id="8" name="Accounts"/>
          <p:cNvSpPr/>
          <p:nvPr/>
        </p:nvSpPr>
        <p:spPr>
          <a:xfrm>
            <a:off x="6126480" y="1051560"/>
            <a:ext cx="25603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6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7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263640" y="1143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Auth.js, email and Google</a:t>
            </a:r>
            <a:endParaRPr lang="en-US" sz="1400" dirty="0"/>
          </a:p>
        </p:txBody>
      </p:sp>
      <p:sp>
        <p:nvSpPr>
          <p:cNvPr id="10" name="Data"/>
          <p:cNvSpPr/>
          <p:nvPr/>
        </p:nvSpPr>
        <p:spPr>
          <a:xfrm>
            <a:off x="6126480" y="2148840"/>
            <a:ext cx="25603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6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7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63640" y="2240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Blobs: users, orders, trips</a:t>
            </a:r>
            <a:endParaRPr lang="en-US" sz="1400" dirty="0"/>
          </a:p>
        </p:txBody>
      </p:sp>
      <p:sp>
        <p:nvSpPr>
          <p:cNvPr id="12" name="Partners"/>
          <p:cNvSpPr/>
          <p:nvPr/>
        </p:nvSpPr>
        <p:spPr>
          <a:xfrm>
            <a:off x="6126480" y="3246120"/>
            <a:ext cx="25603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6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7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63640" y="33375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Booking.com, Amazon.in</a:t>
            </a:r>
            <a:endParaRPr lang="en-US" sz="1400" dirty="0"/>
          </a:p>
        </p:txBody>
      </p:sp>
      <p:sp>
        <p:nvSpPr>
          <p:cNvPr id="14" name="App to accounts"/>
          <p:cNvSpPr/>
          <p:nvPr/>
        </p:nvSpPr>
        <p:spPr>
          <a:xfrm flipV="1">
            <a:off x="5532120" y="1444752"/>
            <a:ext cx="594360" cy="704088"/>
          </a:xfrm>
          <a:prstGeom prst="line">
            <a:avLst/>
          </a:prstGeom>
          <a:noFill/>
          <a:ln w="15875">
            <a:solidFill>
              <a:srgbClr val="6B5E52"/>
            </a:solidFill>
            <a:prstDash val="solid"/>
            <a:tailEnd type="triangle"/>
          </a:ln>
        </p:spPr>
      </p:sp>
      <p:sp>
        <p:nvSpPr>
          <p:cNvPr id="15" name="App to data"/>
          <p:cNvSpPr/>
          <p:nvPr/>
        </p:nvSpPr>
        <p:spPr>
          <a:xfrm>
            <a:off x="5532120" y="2542032"/>
            <a:ext cx="594360" cy="0"/>
          </a:xfrm>
          <a:prstGeom prst="line">
            <a:avLst/>
          </a:prstGeom>
          <a:noFill/>
          <a:ln w="15875">
            <a:solidFill>
              <a:srgbClr val="6B5E52"/>
            </a:solidFill>
            <a:prstDash val="solid"/>
            <a:tailEnd type="triangle"/>
          </a:ln>
        </p:spPr>
      </p:sp>
      <p:sp>
        <p:nvSpPr>
          <p:cNvPr id="16" name="App to partners"/>
          <p:cNvSpPr/>
          <p:nvPr/>
        </p:nvSpPr>
        <p:spPr>
          <a:xfrm>
            <a:off x="5532120" y="2926080"/>
            <a:ext cx="594360" cy="713232"/>
          </a:xfrm>
          <a:prstGeom prst="line">
            <a:avLst/>
          </a:prstGeom>
          <a:noFill/>
          <a:ln w="15875">
            <a:solidFill>
              <a:srgbClr val="6B5E52"/>
            </a:solidFill>
            <a:prstDash val="solid"/>
            <a:tailEnd type="triangle"/>
          </a:ln>
        </p:spPr>
      </p:sp>
      <p:sp>
        <p:nvSpPr>
          <p:cNvPr id="17" name="Blender"/>
          <p:cNvSpPr/>
          <p:nvPr/>
        </p:nvSpPr>
        <p:spPr>
          <a:xfrm>
            <a:off x="2788920" y="3611880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C5A059"/>
          </a:solidFill>
          <a:ln w="9525">
            <a:solidFill>
              <a:srgbClr val="C5A059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7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2926080" y="37033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Blender pipeline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to compressed GLB files</a:t>
            </a:r>
            <a:endParaRPr lang="en-US" sz="1400" dirty="0"/>
          </a:p>
        </p:txBody>
      </p:sp>
      <p:sp>
        <p:nvSpPr>
          <p:cNvPr id="19" name="Blender to app"/>
          <p:cNvSpPr/>
          <p:nvPr/>
        </p:nvSpPr>
        <p:spPr>
          <a:xfrm flipV="1">
            <a:off x="4160520" y="3291840"/>
            <a:ext cx="0" cy="320040"/>
          </a:xfrm>
          <a:prstGeom prst="line">
            <a:avLst/>
          </a:prstGeom>
          <a:noFill/>
          <a:ln w="15875">
            <a:solidFill>
              <a:srgbClr val="6B5E52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admin dashboard that runs the business</a:t>
            </a:r>
            <a:endParaRPr lang="en-US" sz="2800" dirty="0"/>
          </a:p>
        </p:txBody>
      </p:sp>
      <p:sp>
        <p:nvSpPr>
          <p:cNvPr id="3" name="Admin tile 1"/>
          <p:cNvSpPr/>
          <p:nvPr/>
        </p:nvSpPr>
        <p:spPr>
          <a:xfrm>
            <a:off x="457200" y="1188720"/>
            <a:ext cx="1920240" cy="30175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6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7">
                <a:alpha val="12000"/>
              </a:srgbClr>
            </a:outerShdw>
          </a:effectLst>
        </p:spPr>
      </p:sp>
      <p:sp>
        <p:nvSpPr>
          <p:cNvPr id="4" name="LuPackage disc"/>
          <p:cNvSpPr/>
          <p:nvPr/>
        </p:nvSpPr>
        <p:spPr>
          <a:xfrm>
            <a:off x="685800" y="1463040"/>
            <a:ext cx="566928" cy="566928"/>
          </a:xfrm>
          <a:prstGeom prst="ellipse">
            <a:avLst/>
          </a:prstGeom>
          <a:solidFill>
            <a:srgbClr val="4C697B"/>
          </a:solidFill>
          <a:ln/>
        </p:spPr>
      </p:sp>
      <p:pic>
        <p:nvPicPr>
          <p:cNvPr id="5" name="LuPackag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863" y="1599103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1945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orders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880360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order with delivery details and move it from requested to delivered.</a:t>
            </a:r>
            <a:endParaRPr lang="en-US" sz="1300" dirty="0"/>
          </a:p>
        </p:txBody>
      </p:sp>
      <p:sp>
        <p:nvSpPr>
          <p:cNvPr id="8" name="Admin tile 2"/>
          <p:cNvSpPr/>
          <p:nvPr/>
        </p:nvSpPr>
        <p:spPr>
          <a:xfrm>
            <a:off x="2560320" y="1188720"/>
            <a:ext cx="1920240" cy="30175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6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7">
                <a:alpha val="12000"/>
              </a:srgbClr>
            </a:outerShdw>
          </a:effectLst>
        </p:spPr>
      </p:sp>
      <p:sp>
        <p:nvSpPr>
          <p:cNvPr id="9" name="LuChartColumn disc"/>
          <p:cNvSpPr/>
          <p:nvPr/>
        </p:nvSpPr>
        <p:spPr>
          <a:xfrm>
            <a:off x="2788920" y="1463040"/>
            <a:ext cx="566928" cy="566928"/>
          </a:xfrm>
          <a:prstGeom prst="ellipse">
            <a:avLst/>
          </a:prstGeom>
          <a:solidFill>
            <a:srgbClr val="4C697B"/>
          </a:solidFill>
          <a:ln/>
        </p:spPr>
      </p:sp>
      <p:pic>
        <p:nvPicPr>
          <p:cNvPr id="10" name="LuChartColumn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983" y="1599103"/>
            <a:ext cx="294803" cy="29480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88920" y="21945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 clicks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788920" y="2880360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hotels and books visitors open, by monument — the revenue report.</a:t>
            </a:r>
            <a:endParaRPr lang="en-US" sz="1300" dirty="0"/>
          </a:p>
        </p:txBody>
      </p:sp>
      <p:sp>
        <p:nvSpPr>
          <p:cNvPr id="13" name="Admin tile 3"/>
          <p:cNvSpPr/>
          <p:nvPr/>
        </p:nvSpPr>
        <p:spPr>
          <a:xfrm>
            <a:off x="4663440" y="1188720"/>
            <a:ext cx="1920240" cy="30175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6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7">
                <a:alpha val="12000"/>
              </a:srgbClr>
            </a:outerShdw>
          </a:effectLst>
        </p:spPr>
      </p:sp>
      <p:sp>
        <p:nvSpPr>
          <p:cNvPr id="14" name="LuUsers disc"/>
          <p:cNvSpPr/>
          <p:nvPr/>
        </p:nvSpPr>
        <p:spPr>
          <a:xfrm>
            <a:off x="4892040" y="1463040"/>
            <a:ext cx="566928" cy="566928"/>
          </a:xfrm>
          <a:prstGeom prst="ellipse">
            <a:avLst/>
          </a:prstGeom>
          <a:solidFill>
            <a:srgbClr val="4C697B"/>
          </a:solidFill>
          <a:ln/>
        </p:spPr>
      </p:sp>
      <p:pic>
        <p:nvPicPr>
          <p:cNvPr id="15" name="LuUser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8103" y="1599103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92040" y="21945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and roles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892040" y="2880360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users; promote or remove administrators.</a:t>
            </a:r>
            <a:endParaRPr lang="en-US" sz="1300" dirty="0"/>
          </a:p>
        </p:txBody>
      </p:sp>
      <p:sp>
        <p:nvSpPr>
          <p:cNvPr id="18" name="Admin tile 4"/>
          <p:cNvSpPr/>
          <p:nvPr/>
        </p:nvSpPr>
        <p:spPr>
          <a:xfrm>
            <a:off x="6766560" y="1188720"/>
            <a:ext cx="1920240" cy="30175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6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7">
                <a:alpha val="12000"/>
              </a:srgbClr>
            </a:outerShdw>
          </a:effectLst>
        </p:spPr>
      </p:sp>
      <p:sp>
        <p:nvSpPr>
          <p:cNvPr id="19" name="LuLayoutDashboard disc"/>
          <p:cNvSpPr/>
          <p:nvPr/>
        </p:nvSpPr>
        <p:spPr>
          <a:xfrm>
            <a:off x="6995160" y="1463040"/>
            <a:ext cx="566928" cy="566928"/>
          </a:xfrm>
          <a:prstGeom prst="ellipse">
            <a:avLst/>
          </a:prstGeom>
          <a:solidFill>
            <a:srgbClr val="4C697B"/>
          </a:solidFill>
          <a:ln/>
        </p:spPr>
      </p:sp>
      <p:pic>
        <p:nvPicPr>
          <p:cNvPr id="20" name="LuLayoutDashboard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1223" y="1599103"/>
            <a:ext cx="294803" cy="29480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95160" y="21945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overview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6995160" y="2880360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monument's 3D models, photos, nearby places, stays and books.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ways Virasat earns, content stays free</a:t>
            </a:r>
            <a:endParaRPr lang="en-US" sz="2800" dirty="0"/>
          </a:p>
        </p:txBody>
      </p:sp>
      <p:sp>
        <p:nvSpPr>
          <p:cNvPr id="3" name="Stream 1"/>
          <p:cNvSpPr/>
          <p:nvPr/>
        </p:nvSpPr>
        <p:spPr>
          <a:xfrm>
            <a:off x="457200" y="1188720"/>
            <a:ext cx="1554480" cy="30175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6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7">
                <a:alpha val="12000"/>
              </a:srgbClr>
            </a:outerShdw>
          </a:effectLst>
        </p:spPr>
      </p:sp>
      <p:sp>
        <p:nvSpPr>
          <p:cNvPr id="4" name="LuHotel disc"/>
          <p:cNvSpPr/>
          <p:nvPr/>
        </p:nvSpPr>
        <p:spPr>
          <a:xfrm>
            <a:off x="960120" y="1417320"/>
            <a:ext cx="548640" cy="548640"/>
          </a:xfrm>
          <a:prstGeom prst="ellipse">
            <a:avLst/>
          </a:prstGeom>
          <a:solidFill>
            <a:srgbClr val="C5A059"/>
          </a:solidFill>
          <a:ln/>
        </p:spPr>
      </p:sp>
      <p:pic>
        <p:nvPicPr>
          <p:cNvPr id="5" name="LuHote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794" y="154899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2103120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referrals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2697480"/>
            <a:ext cx="1335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 affiliate commission on stays</a:t>
            </a:r>
            <a:endParaRPr lang="en-US" sz="1200" dirty="0"/>
          </a:p>
        </p:txBody>
      </p:sp>
      <p:sp>
        <p:nvSpPr>
          <p:cNvPr id="8" name="Stream 1 tag"/>
          <p:cNvSpPr/>
          <p:nvPr/>
        </p:nvSpPr>
        <p:spPr>
          <a:xfrm>
            <a:off x="868680" y="374904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C5A05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8680" y="3749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10" name="Stream 2"/>
          <p:cNvSpPr/>
          <p:nvPr/>
        </p:nvSpPr>
        <p:spPr>
          <a:xfrm>
            <a:off x="2139696" y="1188720"/>
            <a:ext cx="1554480" cy="30175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6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7">
                <a:alpha val="12000"/>
              </a:srgbClr>
            </a:outerShdw>
          </a:effectLst>
        </p:spPr>
      </p:sp>
      <p:sp>
        <p:nvSpPr>
          <p:cNvPr id="11" name="LuBookOpen disc"/>
          <p:cNvSpPr/>
          <p:nvPr/>
        </p:nvSpPr>
        <p:spPr>
          <a:xfrm>
            <a:off x="2642616" y="1417320"/>
            <a:ext cx="548640" cy="548640"/>
          </a:xfrm>
          <a:prstGeom prst="ellipse">
            <a:avLst/>
          </a:prstGeom>
          <a:solidFill>
            <a:srgbClr val="C5A059"/>
          </a:solidFill>
          <a:ln/>
        </p:spPr>
      </p:sp>
      <p:pic>
        <p:nvPicPr>
          <p:cNvPr id="12" name="LuBookOpen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290" y="154899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249424" y="2103120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sales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249424" y="2697480"/>
            <a:ext cx="1335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referrals and our own order desk</a:t>
            </a:r>
            <a:endParaRPr lang="en-US" sz="1200" dirty="0"/>
          </a:p>
        </p:txBody>
      </p:sp>
      <p:sp>
        <p:nvSpPr>
          <p:cNvPr id="15" name="Stream 2 tag"/>
          <p:cNvSpPr/>
          <p:nvPr/>
        </p:nvSpPr>
        <p:spPr>
          <a:xfrm>
            <a:off x="2551176" y="374904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C5A059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2551176" y="3749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17" name="Stream 3"/>
          <p:cNvSpPr/>
          <p:nvPr/>
        </p:nvSpPr>
        <p:spPr>
          <a:xfrm>
            <a:off x="3822192" y="1188720"/>
            <a:ext cx="1554480" cy="30175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6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7">
                <a:alpha val="12000"/>
              </a:srgbClr>
            </a:outerShdw>
          </a:effectLst>
        </p:spPr>
      </p:sp>
      <p:sp>
        <p:nvSpPr>
          <p:cNvPr id="18" name="LuGraduationCap disc"/>
          <p:cNvSpPr/>
          <p:nvPr/>
        </p:nvSpPr>
        <p:spPr>
          <a:xfrm>
            <a:off x="4325112" y="1417320"/>
            <a:ext cx="548640" cy="548640"/>
          </a:xfrm>
          <a:prstGeom prst="ellipse">
            <a:avLst/>
          </a:prstGeom>
          <a:solidFill>
            <a:srgbClr val="4C697B"/>
          </a:solidFill>
          <a:ln/>
        </p:spPr>
      </p:sp>
      <p:pic>
        <p:nvPicPr>
          <p:cNvPr id="19" name="LuGraduationCap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786" y="1548994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931920" y="2103120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 plan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3931920" y="2697480"/>
            <a:ext cx="1335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dashboard, worksheets, offline packs</a:t>
            </a:r>
            <a:endParaRPr lang="en-US" sz="1200" dirty="0"/>
          </a:p>
        </p:txBody>
      </p:sp>
      <p:sp>
        <p:nvSpPr>
          <p:cNvPr id="22" name="Stream 3 tag"/>
          <p:cNvSpPr/>
          <p:nvPr/>
        </p:nvSpPr>
        <p:spPr>
          <a:xfrm>
            <a:off x="4233672" y="374904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FE9DC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233672" y="3749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24" name="Stream 4"/>
          <p:cNvSpPr/>
          <p:nvPr/>
        </p:nvSpPr>
        <p:spPr>
          <a:xfrm>
            <a:off x="5504688" y="1188720"/>
            <a:ext cx="1554480" cy="30175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6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7">
                <a:alpha val="12000"/>
              </a:srgbClr>
            </a:outerShdw>
          </a:effectLst>
        </p:spPr>
      </p:sp>
      <p:sp>
        <p:nvSpPr>
          <p:cNvPr id="25" name="LuTicket disc"/>
          <p:cNvSpPr/>
          <p:nvPr/>
        </p:nvSpPr>
        <p:spPr>
          <a:xfrm>
            <a:off x="6007608" y="1417320"/>
            <a:ext cx="548640" cy="548640"/>
          </a:xfrm>
          <a:prstGeom prst="ellipse">
            <a:avLst/>
          </a:prstGeom>
          <a:solidFill>
            <a:srgbClr val="4C697B"/>
          </a:solidFill>
          <a:ln/>
        </p:spPr>
      </p:sp>
      <p:pic>
        <p:nvPicPr>
          <p:cNvPr id="26" name="LuTicket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9282" y="1548994"/>
            <a:ext cx="285293" cy="285293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614416" y="2103120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experiences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5614416" y="2697480"/>
            <a:ext cx="1335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and heritage walks on commission</a:t>
            </a:r>
            <a:endParaRPr lang="en-US" sz="1200" dirty="0"/>
          </a:p>
        </p:txBody>
      </p:sp>
      <p:sp>
        <p:nvSpPr>
          <p:cNvPr id="29" name="Stream 4 tag"/>
          <p:cNvSpPr/>
          <p:nvPr/>
        </p:nvSpPr>
        <p:spPr>
          <a:xfrm>
            <a:off x="5916168" y="374904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FE9DC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5916168" y="3749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100" dirty="0"/>
          </a:p>
        </p:txBody>
      </p:sp>
      <p:sp>
        <p:nvSpPr>
          <p:cNvPr id="31" name="Stream 5"/>
          <p:cNvSpPr/>
          <p:nvPr/>
        </p:nvSpPr>
        <p:spPr>
          <a:xfrm>
            <a:off x="7187184" y="1188720"/>
            <a:ext cx="1554480" cy="30175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6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7">
                <a:alpha val="12000"/>
              </a:srgbClr>
            </a:outerShdw>
          </a:effectLst>
        </p:spPr>
      </p:sp>
      <p:sp>
        <p:nvSpPr>
          <p:cNvPr id="32" name="LuBuilding2 disc"/>
          <p:cNvSpPr/>
          <p:nvPr/>
        </p:nvSpPr>
        <p:spPr>
          <a:xfrm>
            <a:off x="7690104" y="1417320"/>
            <a:ext cx="548640" cy="548640"/>
          </a:xfrm>
          <a:prstGeom prst="ellipse">
            <a:avLst/>
          </a:prstGeom>
          <a:solidFill>
            <a:srgbClr val="4C697B"/>
          </a:solidFill>
          <a:ln/>
        </p:spPr>
      </p:sp>
      <p:pic>
        <p:nvPicPr>
          <p:cNvPr id="33" name="LuBuilding2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1778" y="1548994"/>
            <a:ext cx="285293" cy="285293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296912" y="2103120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Institutions</a:t>
            </a:r>
            <a:endParaRPr 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7296912" y="2697480"/>
            <a:ext cx="1335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and AR kiosks for museums and tourism boards</a:t>
            </a:r>
            <a:endParaRPr lang="en-US" sz="1200" dirty="0"/>
          </a:p>
        </p:txBody>
      </p:sp>
      <p:sp>
        <p:nvSpPr>
          <p:cNvPr id="36" name="Stream 5 tag"/>
          <p:cNvSpPr/>
          <p:nvPr/>
        </p:nvSpPr>
        <p:spPr>
          <a:xfrm>
            <a:off x="7598664" y="374904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FE9DC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7598664" y="3749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for the next six months</a:t>
            </a:r>
            <a:endParaRPr lang="en-US" sz="2800" dirty="0"/>
          </a:p>
        </p:txBody>
      </p:sp>
      <p:sp>
        <p:nvSpPr>
          <p:cNvPr id="3" name="Timeline"/>
          <p:cNvSpPr/>
          <p:nvPr/>
        </p:nvSpPr>
        <p:spPr>
          <a:xfrm>
            <a:off x="731520" y="1481328"/>
            <a:ext cx="7680960" cy="0"/>
          </a:xfrm>
          <a:prstGeom prst="line">
            <a:avLst/>
          </a:prstGeom>
          <a:noFill/>
          <a:ln w="25400">
            <a:solidFill>
              <a:srgbClr val="C5A059"/>
            </a:solidFill>
            <a:prstDash val="solid"/>
          </a:ln>
        </p:spPr>
      </p:sp>
      <p:sp>
        <p:nvSpPr>
          <p:cNvPr id="4" name="Milestone 1"/>
          <p:cNvSpPr/>
          <p:nvPr/>
        </p:nvSpPr>
        <p:spPr>
          <a:xfrm>
            <a:off x="594360" y="1344168"/>
            <a:ext cx="274320" cy="274320"/>
          </a:xfrm>
          <a:prstGeom prst="ellipse">
            <a:avLst/>
          </a:prstGeom>
          <a:solidFill>
            <a:srgbClr val="C5A059"/>
          </a:solidFill>
          <a:ln w="25400">
            <a:solidFill>
              <a:srgbClr val="C5A0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Launch-ready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56032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settings and affiliate ids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emails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terms, analytics</a:t>
            </a:r>
            <a:endParaRPr lang="en-US" sz="1300" dirty="0"/>
          </a:p>
        </p:txBody>
      </p:sp>
      <p:sp>
        <p:nvSpPr>
          <p:cNvPr id="8" name="Milestone 2"/>
          <p:cNvSpPr/>
          <p:nvPr/>
        </p:nvSpPr>
        <p:spPr>
          <a:xfrm>
            <a:off x="2697480" y="1344168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5A05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3–6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the catalogue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56032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more monuments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Tours on scanned models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interface, itineraries</a:t>
            </a:r>
            <a:endParaRPr lang="en-US" sz="1300" dirty="0"/>
          </a:p>
        </p:txBody>
      </p:sp>
      <p:sp>
        <p:nvSpPr>
          <p:cNvPr id="12" name="Milestone 3"/>
          <p:cNvSpPr/>
          <p:nvPr/>
        </p:nvSpPr>
        <p:spPr>
          <a:xfrm>
            <a:off x="4800600" y="1344168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5A05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2–3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the backend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56032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via Prisma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editor in admin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payments, school pilot</a:t>
            </a:r>
            <a:endParaRPr lang="en-US" sz="1300" dirty="0"/>
          </a:p>
        </p:txBody>
      </p:sp>
      <p:sp>
        <p:nvSpPr>
          <p:cNvPr id="16" name="Milestone 4"/>
          <p:cNvSpPr/>
          <p:nvPr/>
        </p:nvSpPr>
        <p:spPr>
          <a:xfrm>
            <a:off x="6903720" y="1344168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5A05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mobile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256032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app, offline packs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 and tourism boards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Experiences marketplace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today, with the groundwork for growth</a:t>
            </a:r>
            <a:endParaRPr lang="en-US" sz="2800" dirty="0"/>
          </a:p>
        </p:txBody>
      </p:sp>
      <p:sp>
        <p:nvSpPr>
          <p:cNvPr id="3" name="Stat monuments"/>
          <p:cNvSpPr/>
          <p:nvPr/>
        </p:nvSpPr>
        <p:spPr>
          <a:xfrm>
            <a:off x="457200" y="1143000"/>
            <a:ext cx="1554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6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7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monuments</a:t>
            </a:r>
            <a:endParaRPr lang="en-US" sz="1300" dirty="0"/>
          </a:p>
        </p:txBody>
      </p:sp>
      <p:sp>
        <p:nvSpPr>
          <p:cNvPr id="6" name="Stat photographs"/>
          <p:cNvSpPr/>
          <p:nvPr/>
        </p:nvSpPr>
        <p:spPr>
          <a:xfrm>
            <a:off x="2139696" y="1143000"/>
            <a:ext cx="1554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6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7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139696" y="1234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139696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photographs</a:t>
            </a:r>
            <a:endParaRPr lang="en-US" sz="1300" dirty="0"/>
          </a:p>
        </p:txBody>
      </p:sp>
      <p:sp>
        <p:nvSpPr>
          <p:cNvPr id="9" name="Stat nearby sights"/>
          <p:cNvSpPr/>
          <p:nvPr/>
        </p:nvSpPr>
        <p:spPr>
          <a:xfrm>
            <a:off x="3822192" y="1143000"/>
            <a:ext cx="1554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6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7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822192" y="1234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822192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sights</a:t>
            </a:r>
            <a:endParaRPr lang="en-US" sz="1300" dirty="0"/>
          </a:p>
        </p:txBody>
      </p:sp>
      <p:sp>
        <p:nvSpPr>
          <p:cNvPr id="12" name="Stat stays"/>
          <p:cNvSpPr/>
          <p:nvPr/>
        </p:nvSpPr>
        <p:spPr>
          <a:xfrm>
            <a:off x="5504688" y="1143000"/>
            <a:ext cx="1554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6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7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504688" y="1234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5504688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</a:t>
            </a:r>
            <a:endParaRPr lang="en-US" sz="1300" dirty="0"/>
          </a:p>
        </p:txBody>
      </p:sp>
      <p:sp>
        <p:nvSpPr>
          <p:cNvPr id="15" name="Stat books"/>
          <p:cNvSpPr/>
          <p:nvPr/>
        </p:nvSpPr>
        <p:spPr>
          <a:xfrm>
            <a:off x="7187184" y="1143000"/>
            <a:ext cx="1554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6DFD2"/>
            </a:solidFill>
            <a:prstDash val="solid"/>
          </a:ln>
          <a:effectLst>
            <a:outerShdw sx="100000" sy="100000" kx="0" ky="0" algn="bl" rotWithShape="0" blurRad="101600" dist="25400" dir="5400000">
              <a:srgbClr val="1C1917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187184" y="1234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7187184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actions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1546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Booking.com and Amazon affiliate programmes and add their ids in Netlify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order confirmation emails to readers and alerts to the team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the school plan with three schools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d Fort photo" descr="Lahori Gate of the Red For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206240" cy="5143500"/>
          </a:xfrm>
          <a:prstGeom prst="rect">
            <a:avLst/>
          </a:prstGeom>
        </p:spPr>
      </p:pic>
      <p:pic>
        <p:nvPicPr>
          <p:cNvPr id="3" name="Virasat logo" descr="C:\Users\akshansh sharma\AppData\Local\Temp\claude\C--Users-akshansh-sharma-Desktop-code-file-virasat\d10330bc-ebe7-49cf-9820-f3f096e3ca56\scratchpad\deck\img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5156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846320" y="19659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India's heritage with Virasat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4846320" y="3291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5A059"/>
                </a:solidFill>
              </a:rPr>
              <a:t>virasatdesh.netlify.app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4846320" y="3703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8D2C6"/>
                </a:solidFill>
              </a:rPr>
              <a:t>Free for schools, teachers and students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137160" y="48463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Photo: Lucky181993, Wikimedia Commons, CC BY-SA 4.0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rasat">
  <a:themeElements>
    <a:clrScheme name="Virasat">
      <a:dk1>
        <a:srgbClr val="1C1917"/>
      </a:dk1>
      <a:lt1>
        <a:srgbClr val="FFFFFF"/>
      </a:lt1>
      <a:dk2>
        <a:srgbClr val="4C697B"/>
      </a:dk2>
      <a:lt2>
        <a:srgbClr val="FAF6EE"/>
      </a:lt2>
      <a:accent1>
        <a:srgbClr val="C5A059"/>
      </a:accent1>
      <a:accent2>
        <a:srgbClr val="4C697B"/>
      </a:accent2>
      <a:accent3>
        <a:srgbClr val="B4523C"/>
      </a:accent3>
      <a:accent4>
        <a:srgbClr val="5A7B8F"/>
      </a:accent4>
      <a:accent5>
        <a:srgbClr val="AB8743"/>
      </a:accent5>
      <a:accent6>
        <a:srgbClr val="6B5E52"/>
      </a:accent6>
      <a:hlink>
        <a:srgbClr val="4C697B"/>
      </a:hlink>
      <a:folHlink>
        <a:srgbClr val="6B5E52"/>
      </a:folHlink>
    </a:clrScheme>
    <a:fontScheme name="Virasa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Virasat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Virasat — India's heritage in 3D, AR and travel</dc:title>
  <dc:subject>PptxGenJS Presentation</dc:subject>
  <dc:creator>Virasat</dc:creator>
  <cp:lastModifiedBy>Virasat</cp:lastModifiedBy>
  <cp:revision>1</cp:revision>
  <dcterms:created xsi:type="dcterms:W3CDTF">2026-10-29T07:32:06Z</dcterms:created>
  <dcterms:modified xsi:type="dcterms:W3CDTF">2026-10-29T07:32:06Z</dcterms:modified>
</cp:coreProperties>
</file>